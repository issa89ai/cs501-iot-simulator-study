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6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0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F3D3A0-3785-3C25-B525-5BADB1BC73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95152C8-57F1-0E39-C9E1-3C726A8368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65EC205-53E1-9AA6-7E66-63E5F8219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891F-01F3-43D7-A7D6-C4BC578CB331}" type="datetimeFigureOut">
              <a:rPr lang="en-CA" smtClean="0"/>
              <a:t>2024-04-14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2D6546E-C3CE-BC8B-B987-697DCC39B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E39D5B7-9AF6-F335-742B-B59A8893D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39D81-3829-4484-B1F0-F0E148F2314F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10042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039FFC-EE68-B6B1-ED2D-9FA73D553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0611658-A1DF-CEC6-779E-583CE76AC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4BDCEBC-7F0A-6F0A-FA7D-A83364516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891F-01F3-43D7-A7D6-C4BC578CB331}" type="datetimeFigureOut">
              <a:rPr lang="en-CA" smtClean="0"/>
              <a:t>2024-04-14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DB45AE4-A4E6-E417-0959-255757D11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679CD37-9F9F-1BDA-4E2A-C7CF9BC12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39D81-3829-4484-B1F0-F0E148F2314F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36243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916DD7-07E8-E175-FCAB-2B0871A0F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0AE2AB-B9E8-E925-A6CE-8F2CBA5A8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4612D5-4549-6520-9F66-38CD929DA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891F-01F3-43D7-A7D6-C4BC578CB331}" type="datetimeFigureOut">
              <a:rPr lang="en-CA" smtClean="0"/>
              <a:t>2024-04-14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55EBF8-744A-1FA3-6131-EEEAC84BC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FFC72FE-72A4-721D-531C-3E2DACC4D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39D81-3829-4484-B1F0-F0E148F2314F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08443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22ABF7-EB2B-133C-0993-7F5B0BCDC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088A8CD-4C6A-97FB-8B07-9301D647FE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252FCEB-1A30-FA2B-D3DF-F2EDA91AAA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10FEE26-E6D6-914A-896F-2861DE970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891F-01F3-43D7-A7D6-C4BC578CB331}" type="datetimeFigureOut">
              <a:rPr lang="en-CA" smtClean="0"/>
              <a:t>2024-04-14</a:t>
            </a:fld>
            <a:endParaRPr lang="en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C9F014C-4CCB-8DC3-D30A-FF10F4B1E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1DF3BC8-EEAC-071F-AF3B-A4D85B60D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39D81-3829-4484-B1F0-F0E148F2314F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4308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0223D0-8A73-C2D5-09E5-5958996C6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202C256-B40D-4EBD-0352-EF4F69CB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C0695CB-0122-6DAF-FC75-29E99BEC5B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3BD1CFE-EFE6-0B92-4B5A-5F4F627A55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8A5C908-790C-1A9A-9A48-3D1E13391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816DF73-0102-1F92-EBB7-C4F4479D0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891F-01F3-43D7-A7D6-C4BC578CB331}" type="datetimeFigureOut">
              <a:rPr lang="en-CA" smtClean="0"/>
              <a:t>2024-04-14</a:t>
            </a:fld>
            <a:endParaRPr lang="en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34C1DE1-1F3B-1565-7D16-D76D7A823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60EF3EC-80A0-ABA8-C5F9-770F2BF41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39D81-3829-4484-B1F0-F0E148F2314F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53743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6A51B5-FAF0-89CC-20B2-3B245FB47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A7C8972-064E-6AF3-C37C-343C90E2E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891F-01F3-43D7-A7D6-C4BC578CB331}" type="datetimeFigureOut">
              <a:rPr lang="en-CA" smtClean="0"/>
              <a:t>2024-04-14</a:t>
            </a:fld>
            <a:endParaRPr lang="en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DA85D47-A2B6-54DE-BE53-B23F916F6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2ED7E62-3FA4-010C-FF46-78699E33F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39D81-3829-4484-B1F0-F0E148F2314F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40447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91669C5-25A5-C189-F764-11DA9AC6D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891F-01F3-43D7-A7D6-C4BC578CB331}" type="datetimeFigureOut">
              <a:rPr lang="en-CA" smtClean="0"/>
              <a:t>2024-04-14</a:t>
            </a:fld>
            <a:endParaRPr lang="en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4F63EDF-3A46-09BD-1637-78343BC4B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E8499CC-B747-86B6-7FCB-8CC55030B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39D81-3829-4484-B1F0-F0E148F2314F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25430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4EF4A3-32B0-506D-485E-156D1BF9E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305444B-C5CD-A5FF-CBD4-936E70E4D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A96FD54-EDC0-A7C9-CB5F-B7554DA17B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95CCFA2-F2A5-7F93-C3B4-446E93DE6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891F-01F3-43D7-A7D6-C4BC578CB331}" type="datetimeFigureOut">
              <a:rPr lang="en-CA" smtClean="0"/>
              <a:t>2024-04-14</a:t>
            </a:fld>
            <a:endParaRPr lang="en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7BE6AB5-4175-7259-D53B-3DD68E643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832CE65-2A43-DB02-35D8-89FE3D140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39D81-3829-4484-B1F0-F0E148F2314F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07337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9C8FAA-324E-BBD6-EE44-D0BAE7BBF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A71A9E5-4A97-0283-EFE2-3DCC8EFB1C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392698E-16C4-F939-3AE7-252A88D8A1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24B1B55-5615-A245-95BC-EC58EAE02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891F-01F3-43D7-A7D6-C4BC578CB331}" type="datetimeFigureOut">
              <a:rPr lang="en-CA" smtClean="0"/>
              <a:t>2024-04-14</a:t>
            </a:fld>
            <a:endParaRPr lang="en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E91FD5B-92C0-88DE-2559-5148F34DB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8972644-3BF1-1862-85E2-AE6F051AA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39D81-3829-4484-B1F0-F0E148F2314F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80495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16FC9D-45F4-437F-FEC0-A9A33217F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ED14151-5D90-84C4-7527-B78C7909CD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C3D962A-C857-91B3-3337-56285374F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891F-01F3-43D7-A7D6-C4BC578CB331}" type="datetimeFigureOut">
              <a:rPr lang="en-CA" smtClean="0"/>
              <a:t>2024-04-14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18E4C83-E02E-5737-1981-14C22327C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0D242CC-92B2-EE1F-2179-35A25D11E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39D81-3829-4484-B1F0-F0E148F2314F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64247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69C013E-D8FC-789D-A921-6AC9D6B694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9E143E6-A905-F412-E568-05D65FD3E5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4E258BD-13DC-E302-7F43-900723165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891F-01F3-43D7-A7D6-C4BC578CB331}" type="datetimeFigureOut">
              <a:rPr lang="en-CA" smtClean="0"/>
              <a:t>2024-04-14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43D3F59-A4FC-066D-1CBC-F4F4B199A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494B7F-96C7-47B3-3A72-14CFC302F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39D81-3829-4484-B1F0-F0E148F2314F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3865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1BD08F3-6DF1-CACD-4291-D84121911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7EECBD9-392C-3145-8AAA-09149CB0E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7E1A15-9991-289A-8756-137FD1CBF8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1E891F-01F3-43D7-A7D6-C4BC578CB331}" type="datetimeFigureOut">
              <a:rPr lang="en-CA" smtClean="0"/>
              <a:t>2024-04-14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853183-7D5D-F9A1-874D-08AA6DBC3A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8E2FA8-C7E6-8105-E4D9-10EC77642F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439D81-3829-4484-B1F0-F0E148F2314F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83445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moodle.ubishops.ca/course/view.php?id=4106" TargetMode="External"/><Relationship Id="rId3" Type="http://schemas.openxmlformats.org/officeDocument/2006/relationships/hyperlink" Target="https://github.com/bounceur/CupCarbon" TargetMode="External"/><Relationship Id="rId7" Type="http://schemas.openxmlformats.org/officeDocument/2006/relationships/hyperlink" Target="http://gluonhq.com/products/scene-builder/" TargetMode="External"/><Relationship Id="rId2" Type="http://schemas.openxmlformats.org/officeDocument/2006/relationships/hyperlink" Target="https://youtu.be/OHHDE76F7Qc?si=m0-J7m8nu6tzk_A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7planning.org/fr/10619/installation-de-e-fx-clipse-sur-eclipse" TargetMode="External"/><Relationship Id="rId5" Type="http://schemas.openxmlformats.org/officeDocument/2006/relationships/hyperlink" Target="https://www.eclipse.org/" TargetMode="External"/><Relationship Id="rId4" Type="http://schemas.openxmlformats.org/officeDocument/2006/relationships/hyperlink" Target="http://www.oracle.com/technetwork/java/javase/downloads/jdk8-downloads-2133151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Final project: Study of an IoT simulator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520" y="332657"/>
            <a:ext cx="2160240" cy="903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263661" y="5528187"/>
            <a:ext cx="5594043" cy="1206910"/>
          </a:xfrm>
        </p:spPr>
        <p:txBody>
          <a:bodyPr>
            <a:normAutofit/>
          </a:bodyPr>
          <a:lstStyle/>
          <a:p>
            <a:pPr>
              <a:spcBef>
                <a:spcPts val="580"/>
              </a:spcBef>
              <a:defRPr/>
            </a:pPr>
            <a:r>
              <a:rPr lang="en-US" altLang="fr-FR" sz="1600" dirty="0">
                <a:solidFill>
                  <a:schemeClr val="tx1"/>
                </a:solidFill>
              </a:rPr>
              <a:t>Dr. Mohammed Ayoub Alaoui Mhamdi</a:t>
            </a:r>
          </a:p>
          <a:p>
            <a:pPr>
              <a:spcBef>
                <a:spcPts val="580"/>
              </a:spcBef>
              <a:defRPr/>
            </a:pPr>
            <a:r>
              <a:rPr lang="en-US" altLang="fr-FR" sz="1600" dirty="0">
                <a:solidFill>
                  <a:schemeClr val="tx1"/>
                </a:solidFill>
              </a:rPr>
              <a:t>Bishop's University</a:t>
            </a:r>
          </a:p>
          <a:p>
            <a:pPr>
              <a:spcBef>
                <a:spcPts val="580"/>
              </a:spcBef>
              <a:defRPr/>
            </a:pPr>
            <a:r>
              <a:rPr lang="en-US" altLang="fr-FR" sz="1600" dirty="0" err="1">
                <a:solidFill>
                  <a:schemeClr val="tx1"/>
                </a:solidFill>
              </a:rPr>
              <a:t>Sherbrooke</a:t>
            </a:r>
            <a:r>
              <a:rPr lang="en-US" altLang="fr-FR" sz="1600" dirty="0">
                <a:solidFill>
                  <a:schemeClr val="tx1"/>
                </a:solidFill>
              </a:rPr>
              <a:t>, Qc, Canada</a:t>
            </a:r>
          </a:p>
          <a:p>
            <a:pPr>
              <a:spcBef>
                <a:spcPts val="580"/>
              </a:spcBef>
              <a:defRPr/>
            </a:pPr>
            <a:r>
              <a:rPr lang="en-US" altLang="fr-FR" sz="1600" dirty="0">
                <a:solidFill>
                  <a:schemeClr val="tx1"/>
                </a:solidFill>
              </a:rPr>
              <a:t>malaoui@ubishops.ca</a:t>
            </a:r>
          </a:p>
        </p:txBody>
      </p:sp>
      <p:sp>
        <p:nvSpPr>
          <p:cNvPr id="5" name="ZoneTexte 1"/>
          <p:cNvSpPr txBox="1">
            <a:spLocks noChangeArrowheads="1"/>
          </p:cNvSpPr>
          <p:nvPr/>
        </p:nvSpPr>
        <p:spPr bwMode="auto">
          <a:xfrm>
            <a:off x="4295800" y="595686"/>
            <a:ext cx="7056784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SzTx/>
              <a:buFont typeface="Wingdings" panose="05000000000000000000" pitchFamily="2" charset="2"/>
              <a:buNone/>
            </a:pPr>
            <a:r>
              <a:rPr lang="fr-CA" altLang="fr-FR" sz="2800" dirty="0">
                <a:latin typeface="Arial" panose="020B0604020202020204" pitchFamily="34" charset="0"/>
              </a:rPr>
              <a:t>CS 501: The Internet of </a:t>
            </a:r>
            <a:r>
              <a:rPr lang="fr-CA" altLang="fr-FR" sz="2800" dirty="0" err="1">
                <a:latin typeface="Arial" panose="020B0604020202020204" pitchFamily="34" charset="0"/>
              </a:rPr>
              <a:t>Things</a:t>
            </a:r>
            <a:endParaRPr lang="fr-CA" altLang="fr-FR" sz="2800" dirty="0">
              <a:latin typeface="Arial" panose="020B0604020202020204" pitchFamily="34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171D56F-4AAA-AB62-5E32-46B4AFF014CA}"/>
              </a:ext>
            </a:extLst>
          </p:cNvPr>
          <p:cNvSpPr txBox="1">
            <a:spLocks noChangeArrowheads="1"/>
          </p:cNvSpPr>
          <p:nvPr/>
        </p:nvSpPr>
        <p:spPr>
          <a:xfrm>
            <a:off x="3299227" y="3753461"/>
            <a:ext cx="5594043" cy="12069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80"/>
              </a:spcBef>
              <a:defRPr/>
            </a:pPr>
            <a:r>
              <a:rPr lang="fr-CA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Students</a:t>
            </a:r>
            <a:r>
              <a:rPr lang="fr-CA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spcBef>
                <a:spcPts val="580"/>
              </a:spcBef>
              <a:defRPr/>
            </a:pPr>
            <a:r>
              <a:rPr lang="fr-CA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Cicéron Ovide Aissoun -- </a:t>
            </a:r>
            <a:r>
              <a:rPr lang="fr-CA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Ahmad Issa</a:t>
            </a:r>
            <a:endParaRPr lang="en-US" altLang="fr-FR" sz="1600" dirty="0"/>
          </a:p>
        </p:txBody>
      </p:sp>
    </p:spTree>
    <p:extLst>
      <p:ext uri="{BB962C8B-B14F-4D97-AF65-F5344CB8AC3E}">
        <p14:creationId xmlns:p14="http://schemas.microsoft.com/office/powerpoint/2010/main" val="2762164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9BFC0C-C6A6-E43D-404C-6132D8D02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Overview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35A6BCA-5D03-0281-45EB-617C8FBF1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Open-source simulation tool for IoT and WSN systems</a:t>
            </a:r>
          </a:p>
          <a:p>
            <a:endParaRPr lang="en-CA" dirty="0"/>
          </a:p>
          <a:p>
            <a:r>
              <a:rPr lang="en-CA" dirty="0"/>
              <a:t>User-friendly graphical interface</a:t>
            </a:r>
          </a:p>
          <a:p>
            <a:endParaRPr lang="en-CA" dirty="0"/>
          </a:p>
          <a:p>
            <a:r>
              <a:rPr lang="en-CA" dirty="0"/>
              <a:t>Integration with Eclipse IDE</a:t>
            </a:r>
          </a:p>
        </p:txBody>
      </p:sp>
    </p:spTree>
    <p:extLst>
      <p:ext uri="{BB962C8B-B14F-4D97-AF65-F5344CB8AC3E}">
        <p14:creationId xmlns:p14="http://schemas.microsoft.com/office/powerpoint/2010/main" val="2261780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E9BFC0C-C6A6-E43D-404C-6132D8D02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CA" sz="5400" b="0" i="0">
                <a:effectLst/>
                <a:highlight>
                  <a:srgbClr val="F0EEE5"/>
                </a:highlight>
                <a:latin typeface="__tiempos_b6f14e"/>
              </a:rPr>
              <a:t>CupCarbon Key Features</a:t>
            </a:r>
            <a:endParaRPr lang="en-CA" sz="5400"/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35A6BCA-5D03-0281-45EB-617C8FBF1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en-CA" sz="1700"/>
              <a:t>Graphical Interface</a:t>
            </a:r>
          </a:p>
          <a:p>
            <a:endParaRPr lang="en-CA" sz="1700"/>
          </a:p>
          <a:p>
            <a:r>
              <a:rPr lang="en-CA" sz="1700"/>
              <a:t>Simulation Capabilities</a:t>
            </a:r>
          </a:p>
          <a:p>
            <a:endParaRPr lang="en-CA" sz="1700"/>
          </a:p>
          <a:p>
            <a:r>
              <a:rPr lang="en-CA" sz="1700"/>
              <a:t>Scripting Support</a:t>
            </a:r>
          </a:p>
          <a:p>
            <a:endParaRPr lang="en-CA" sz="1700"/>
          </a:p>
          <a:p>
            <a:r>
              <a:rPr lang="en-CA" sz="1700"/>
              <a:t>Real-world Maps</a:t>
            </a:r>
          </a:p>
          <a:p>
            <a:endParaRPr lang="en-CA" sz="1700"/>
          </a:p>
          <a:p>
            <a:r>
              <a:rPr lang="en-CA" sz="1700"/>
              <a:t>Research and Education</a:t>
            </a:r>
          </a:p>
          <a:p>
            <a:endParaRPr lang="en-CA" sz="1700"/>
          </a:p>
          <a:p>
            <a:r>
              <a:rPr lang="en-CA" sz="1700"/>
              <a:t>Integration with Eclipse</a:t>
            </a:r>
          </a:p>
        </p:txBody>
      </p:sp>
      <p:pic>
        <p:nvPicPr>
          <p:cNvPr id="4" name="Image 3" descr="Une image contenant texte, capture d’écran, logiciel, Logiciel multimédia&#10;&#10;Description générée automatiquement">
            <a:extLst>
              <a:ext uri="{FF2B5EF4-FFF2-40B4-BE49-F238E27FC236}">
                <a16:creationId xmlns:a16="http://schemas.microsoft.com/office/drawing/2014/main" id="{CC2583A7-A828-E1CF-953E-389C510B288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9" r="21377" b="-3"/>
          <a:stretch/>
        </p:blipFill>
        <p:spPr>
          <a:xfrm>
            <a:off x="3487117" y="1793505"/>
            <a:ext cx="3031670" cy="3151248"/>
          </a:xfrm>
          <a:prstGeom prst="rect">
            <a:avLst/>
          </a:prstGeom>
        </p:spPr>
      </p:pic>
      <p:pic>
        <p:nvPicPr>
          <p:cNvPr id="5" name="Image 4" descr="Une image contenant texte, capture d’écran, logiciel, Logiciel multimédia&#10;&#10;Description générée automatiquement">
            <a:extLst>
              <a:ext uri="{FF2B5EF4-FFF2-40B4-BE49-F238E27FC236}">
                <a16:creationId xmlns:a16="http://schemas.microsoft.com/office/drawing/2014/main" id="{C07EF135-A82D-DB77-92DA-8EABF8C61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121" y="3879451"/>
            <a:ext cx="3938307" cy="2878064"/>
          </a:xfrm>
          <a:prstGeom prst="rect">
            <a:avLst/>
          </a:prstGeom>
        </p:spPr>
      </p:pic>
      <p:pic>
        <p:nvPicPr>
          <p:cNvPr id="6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98F3C933-56F0-CC1E-AB70-2DF2E5DB60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5366" y="1439937"/>
            <a:ext cx="3683826" cy="2274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245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9BFC0C-C6A6-E43D-404C-6132D8D02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CupCarbon</a:t>
            </a:r>
            <a:r>
              <a:rPr lang="en-CA" dirty="0"/>
              <a:t> Supported Languages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35A6BCA-5D03-0281-45EB-617C8FBF1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Java</a:t>
            </a:r>
          </a:p>
          <a:p>
            <a:endParaRPr lang="en-CA" dirty="0"/>
          </a:p>
          <a:p>
            <a:r>
              <a:rPr lang="en-CA" dirty="0"/>
              <a:t>Scripting Language</a:t>
            </a:r>
          </a:p>
          <a:p>
            <a:endParaRPr lang="en-CA" dirty="0"/>
          </a:p>
          <a:p>
            <a:r>
              <a:rPr lang="en-CA" dirty="0" err="1"/>
              <a:t>Uppaal</a:t>
            </a:r>
            <a:r>
              <a:rPr lang="en-CA" dirty="0"/>
              <a:t> </a:t>
            </a:r>
            <a:r>
              <a:rPr lang="en-CA" dirty="0" err="1"/>
              <a:t>Stratego</a:t>
            </a:r>
            <a:endParaRPr lang="en-CA" dirty="0"/>
          </a:p>
        </p:txBody>
      </p:sp>
      <p:pic>
        <p:nvPicPr>
          <p:cNvPr id="4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F0DF656D-F751-D20C-F28E-3835D0A048E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1162" y="1373342"/>
            <a:ext cx="4576414" cy="2360340"/>
          </a:xfrm>
          <a:prstGeom prst="rect">
            <a:avLst/>
          </a:prstGeom>
        </p:spPr>
      </p:pic>
      <p:pic>
        <p:nvPicPr>
          <p:cNvPr id="5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3DBC0426-04F1-BCB9-614D-425F8753D1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279" y="4021394"/>
            <a:ext cx="4721297" cy="2628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882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47CD586-D88C-B63A-86AD-21FDBA5F8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/>
          </a:bodyPr>
          <a:lstStyle/>
          <a:p>
            <a:r>
              <a:rPr lang="en-CA" sz="4000"/>
              <a:t>CupCarbon Mote Types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88BBB94-C960-5505-E97D-B21CF2BC8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5" y="2508105"/>
            <a:ext cx="5040285" cy="3632493"/>
          </a:xfrm>
        </p:spPr>
        <p:txBody>
          <a:bodyPr anchor="ctr">
            <a:normAutofit/>
          </a:bodyPr>
          <a:lstStyle/>
          <a:p>
            <a:r>
              <a:rPr lang="en-CA" sz="1400"/>
              <a:t>Generic Motes</a:t>
            </a:r>
          </a:p>
          <a:p>
            <a:endParaRPr lang="en-CA" sz="1400"/>
          </a:p>
          <a:p>
            <a:r>
              <a:rPr lang="en-CA" sz="1400"/>
              <a:t>Specific Protocol Motes</a:t>
            </a:r>
          </a:p>
          <a:p>
            <a:endParaRPr lang="en-CA" sz="1400"/>
          </a:p>
          <a:p>
            <a:r>
              <a:rPr lang="en-CA" sz="1400"/>
              <a:t>Mobile Motes</a:t>
            </a:r>
          </a:p>
          <a:p>
            <a:endParaRPr lang="en-CA" sz="1400"/>
          </a:p>
          <a:p>
            <a:r>
              <a:rPr lang="en-CA" sz="1400"/>
              <a:t>Energy-aware Motes</a:t>
            </a:r>
          </a:p>
          <a:p>
            <a:endParaRPr lang="en-CA" sz="1400"/>
          </a:p>
          <a:p>
            <a:r>
              <a:rPr lang="en-CA" sz="1400"/>
              <a:t>Actuators</a:t>
            </a:r>
          </a:p>
          <a:p>
            <a:endParaRPr lang="en-CA" sz="1400"/>
          </a:p>
          <a:p>
            <a:r>
              <a:rPr lang="en-CA" sz="1400"/>
              <a:t>Gateway Motes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776502C-7963-BAF2-873B-1CA99D0AB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1209" y="774285"/>
            <a:ext cx="4180035" cy="2581173"/>
          </a:xfrm>
          <a:prstGeom prst="rect">
            <a:avLst/>
          </a:prstGeom>
        </p:spPr>
      </p:pic>
      <p:pic>
        <p:nvPicPr>
          <p:cNvPr id="5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33FA36FB-D470-C387-0D6A-ED1DCF8A986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1207" y="3575074"/>
            <a:ext cx="4180039" cy="2581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554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47CD586-D88C-B63A-86AD-21FDBA5F8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/>
          </a:bodyPr>
          <a:lstStyle/>
          <a:p>
            <a:r>
              <a:rPr lang="en-CA" sz="4000" dirty="0" err="1"/>
              <a:t>Cooja</a:t>
            </a:r>
            <a:r>
              <a:rPr lang="en-CA" sz="4000" dirty="0"/>
              <a:t> Simulator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88BBB94-C960-5505-E97D-B21CF2BC8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6" y="2508105"/>
            <a:ext cx="4607666" cy="1247297"/>
          </a:xfrm>
        </p:spPr>
        <p:txBody>
          <a:bodyPr anchor="ctr">
            <a:normAutofit/>
          </a:bodyPr>
          <a:lstStyle/>
          <a:p>
            <a:r>
              <a:rPr lang="en-CA" sz="1400" dirty="0"/>
              <a:t>Specialized for simulating Contiki OS-based IoT and WSN systems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D719E272-C170-5EC7-4D3C-4A8409C931D7}"/>
              </a:ext>
            </a:extLst>
          </p:cNvPr>
          <p:cNvSpPr txBox="1">
            <a:spLocks/>
          </p:cNvSpPr>
          <p:nvPr/>
        </p:nvSpPr>
        <p:spPr>
          <a:xfrm>
            <a:off x="853120" y="3487164"/>
            <a:ext cx="5040285" cy="7010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>
              <a:buNone/>
            </a:pPr>
            <a:r>
              <a:rPr lang="en-CA" sz="4000" dirty="0" err="1"/>
              <a:t>Cooja</a:t>
            </a:r>
            <a:r>
              <a:rPr lang="en-CA" sz="4000" dirty="0"/>
              <a:t> Key Features</a:t>
            </a: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2D2EC3A1-2B61-F335-1AB4-4306D5ABA667}"/>
              </a:ext>
            </a:extLst>
          </p:cNvPr>
          <p:cNvSpPr txBox="1">
            <a:spLocks/>
          </p:cNvSpPr>
          <p:nvPr/>
        </p:nvSpPr>
        <p:spPr>
          <a:xfrm>
            <a:off x="1055714" y="4143020"/>
            <a:ext cx="4607666" cy="12472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CA" sz="1400" dirty="0"/>
          </a:p>
          <a:p>
            <a:r>
              <a:rPr lang="en-CA" sz="1400" dirty="0"/>
              <a:t>Integration with Contiki OS</a:t>
            </a:r>
          </a:p>
          <a:p>
            <a:r>
              <a:rPr lang="en-CA" sz="1400" dirty="0"/>
              <a:t>Network Layer Emulation</a:t>
            </a:r>
          </a:p>
          <a:p>
            <a:r>
              <a:rPr lang="en-CA" sz="1400" dirty="0"/>
              <a:t>Plugin System</a:t>
            </a:r>
          </a:p>
          <a:p>
            <a:r>
              <a:rPr lang="en-CA" sz="1400" dirty="0"/>
              <a:t>Community and Resources</a:t>
            </a:r>
          </a:p>
        </p:txBody>
      </p:sp>
      <p:pic>
        <p:nvPicPr>
          <p:cNvPr id="8" name="Image 7" descr="Une image contenant texte, capture d’écran, logiciel, affichage">
            <a:extLst>
              <a:ext uri="{FF2B5EF4-FFF2-40B4-BE49-F238E27FC236}">
                <a16:creationId xmlns:a16="http://schemas.microsoft.com/office/drawing/2014/main" id="{7706FF08-0A01-C0CC-FF7F-A4A320BCF7B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8" y="1625445"/>
            <a:ext cx="5812903" cy="4259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683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47CD586-D88C-B63A-86AD-21FDBA5F8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7742846" cy="1169585"/>
          </a:xfrm>
        </p:spPr>
        <p:txBody>
          <a:bodyPr anchor="b">
            <a:normAutofit/>
          </a:bodyPr>
          <a:lstStyle/>
          <a:p>
            <a:r>
              <a:rPr lang="en-CA" sz="4000" dirty="0"/>
              <a:t>Comparison: </a:t>
            </a:r>
            <a:r>
              <a:rPr lang="en-CA" sz="4000" dirty="0" err="1"/>
              <a:t>CupCarbon</a:t>
            </a:r>
            <a:r>
              <a:rPr lang="en-CA" sz="4000" dirty="0"/>
              <a:t> vs. </a:t>
            </a:r>
            <a:r>
              <a:rPr lang="en-CA" sz="4000" dirty="0" err="1"/>
              <a:t>Cooja</a:t>
            </a:r>
            <a:endParaRPr lang="en-CA" sz="4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88BBB94-C960-5505-E97D-B21CF2BC8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6" y="2508105"/>
            <a:ext cx="4381523" cy="2752153"/>
          </a:xfrm>
        </p:spPr>
        <p:txBody>
          <a:bodyPr anchor="ctr">
            <a:normAutofit/>
          </a:bodyPr>
          <a:lstStyle/>
          <a:p>
            <a:r>
              <a:rPr lang="en-CA" sz="1400" dirty="0"/>
              <a:t>Platform and Protocol Support</a:t>
            </a:r>
          </a:p>
          <a:p>
            <a:endParaRPr lang="en-CA" sz="1400" dirty="0"/>
          </a:p>
          <a:p>
            <a:r>
              <a:rPr lang="en-CA" sz="1400" dirty="0"/>
              <a:t>User Interface and Usability</a:t>
            </a:r>
          </a:p>
          <a:p>
            <a:endParaRPr lang="en-CA" sz="1400" dirty="0"/>
          </a:p>
          <a:p>
            <a:r>
              <a:rPr lang="en-CA" sz="1400" dirty="0"/>
              <a:t>Community and Documentation</a:t>
            </a:r>
          </a:p>
        </p:txBody>
      </p:sp>
    </p:spTree>
    <p:extLst>
      <p:ext uri="{BB962C8B-B14F-4D97-AF65-F5344CB8AC3E}">
        <p14:creationId xmlns:p14="http://schemas.microsoft.com/office/powerpoint/2010/main" val="584557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54A05A-04FE-6E42-E725-D7BA378CA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0281"/>
          </a:xfrm>
        </p:spPr>
        <p:txBody>
          <a:bodyPr>
            <a:normAutofit fontScale="90000"/>
          </a:bodyPr>
          <a:lstStyle/>
          <a:p>
            <a:r>
              <a:rPr lang="en-CA" sz="4400" dirty="0"/>
              <a:t>Comparison: </a:t>
            </a:r>
            <a:r>
              <a:rPr lang="en-CA" sz="4400" dirty="0" err="1"/>
              <a:t>CupCarbon</a:t>
            </a:r>
            <a:r>
              <a:rPr lang="en-CA" sz="4400" dirty="0"/>
              <a:t> vs. </a:t>
            </a:r>
            <a:r>
              <a:rPr lang="en-CA" sz="4400" dirty="0" err="1"/>
              <a:t>Cooja</a:t>
            </a:r>
            <a:endParaRPr lang="en-CA" dirty="0"/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234C8EDF-DD00-616A-A0EC-0BA489C2D3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9666100"/>
              </p:ext>
            </p:extLst>
          </p:nvPr>
        </p:nvGraphicFramePr>
        <p:xfrm>
          <a:off x="267928" y="855406"/>
          <a:ext cx="11796254" cy="56374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9064">
                  <a:extLst>
                    <a:ext uri="{9D8B030D-6E8A-4147-A177-3AD203B41FA5}">
                      <a16:colId xmlns:a16="http://schemas.microsoft.com/office/drawing/2014/main" val="1676480750"/>
                    </a:ext>
                  </a:extLst>
                </a:gridCol>
                <a:gridCol w="5898126">
                  <a:extLst>
                    <a:ext uri="{9D8B030D-6E8A-4147-A177-3AD203B41FA5}">
                      <a16:colId xmlns:a16="http://schemas.microsoft.com/office/drawing/2014/main" val="3465395281"/>
                    </a:ext>
                  </a:extLst>
                </a:gridCol>
                <a:gridCol w="2949064">
                  <a:extLst>
                    <a:ext uri="{9D8B030D-6E8A-4147-A177-3AD203B41FA5}">
                      <a16:colId xmlns:a16="http://schemas.microsoft.com/office/drawing/2014/main" val="297504675"/>
                    </a:ext>
                  </a:extLst>
                </a:gridCol>
              </a:tblGrid>
              <a:tr h="204940">
                <a:tc>
                  <a:txBody>
                    <a:bodyPr/>
                    <a:lstStyle/>
                    <a:p>
                      <a:pPr algn="just" fontAlgn="t"/>
                      <a:r>
                        <a:rPr lang="en-CA" sz="1050" b="1" i="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Characteristic </a:t>
                      </a:r>
                      <a:endParaRPr lang="en-CA" sz="10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CA" sz="1050" b="1" i="0" u="none" strike="noStrike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Cooja Simulator </a:t>
                      </a:r>
                      <a:endParaRPr lang="en-CA" sz="1000" b="0" i="0" u="none" strike="noStrike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CA" sz="1050" b="1" i="0" u="none" strike="noStrike" dirty="0" err="1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CupCarbon</a:t>
                      </a:r>
                      <a:r>
                        <a:rPr lang="en-CA" sz="1050" b="1" i="0" u="none" strike="noStrike" dirty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endParaRPr lang="en-CA" sz="1000" b="0" i="0" u="none" strike="noStrike" dirty="0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404951399"/>
                  </a:ext>
                </a:extLst>
              </a:tr>
              <a:tr h="820381">
                <a:tc>
                  <a:txBody>
                    <a:bodyPr/>
                    <a:lstStyle/>
                    <a:p>
                      <a:pPr algn="just" fontAlgn="t"/>
                      <a:r>
                        <a:rPr lang="en-CA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Primary Focus </a:t>
                      </a:r>
                      <a:endParaRPr lang="en-CA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CA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Cooja</a:t>
                      </a:r>
                      <a:r>
                        <a:rPr lang="en-CA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serves as a simulation  platform primarily aimed at  modeling wireless sensor  networks (WSNs), particularly  those involving Internet of Things  (IoT) devices and low-power  sensor nodes. </a:t>
                      </a:r>
                      <a:endParaRPr lang="en-CA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CA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CupCarbon</a:t>
                      </a:r>
                      <a:r>
                        <a:rPr lang="en-CA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is also a simulator  designed for wireless sensor  networks, but it is specifically  tailored for vehicular networks and  cyber-physical systems (CPS). </a:t>
                      </a:r>
                      <a:endParaRPr lang="en-CA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782691582"/>
                  </a:ext>
                </a:extLst>
              </a:tr>
              <a:tr h="1385393">
                <a:tc>
                  <a:txBody>
                    <a:bodyPr/>
                    <a:lstStyle/>
                    <a:p>
                      <a:pPr algn="just" fontAlgn="t"/>
                      <a:r>
                        <a:rPr lang="en-CA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Focus Areas </a:t>
                      </a:r>
                      <a:endParaRPr lang="en-CA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CA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It concentrates on simulating  various aspects of WSNs,  including communication  protocols, energy consumption  patterns, and application  behaviors, with a specific  emphasis on resource-constrained  network environments. </a:t>
                      </a:r>
                      <a:endParaRPr lang="en-CA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CA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Its primary focus lies in simulating  vehicular mobility, communication  scenarios within vehicular  networks, and environmental  monitoring, making it particularly  suitable for applications related to  vehicles and transportation  systems. </a:t>
                      </a:r>
                      <a:endParaRPr lang="en-CA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262984195"/>
                  </a:ext>
                </a:extLst>
              </a:tr>
              <a:tr h="2406374">
                <a:tc>
                  <a:txBody>
                    <a:bodyPr/>
                    <a:lstStyle/>
                    <a:p>
                      <a:pPr algn="just" fontAlgn="t"/>
                      <a:r>
                        <a:rPr lang="en-CA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Key Features </a:t>
                      </a:r>
                      <a:endParaRPr lang="en-CA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CA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Supports simulation of various  wireless communication protocols  commonly utilized in WSNs,  including IEEE 802.15.4, Zigbee,  and 6LoWPAN.  ii. Energy Consumption: Offers  features for modeling and  evaluating the energy  consumption patterns of sensor  nodes.  iii. Topology Control: Enables the  creation and analysis of different  network topologies, including  static and mobile sensor nodes. </a:t>
                      </a:r>
                      <a:endParaRPr lang="en-CA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CA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realistic models for simulating  vehicular mobility, incorporating  factors such as vehicle movement  patterns, road traffic dynamics, and  traffic flow behaviors.  ii. Communication Models: Tailored  communication models account for  vehicular network characteristics  like vehicle speed, distance-based  communication range, and network  handovers.  iii. Environment Simulation:  Includes features for simulating  environmental conditions relevant  to vehicular networks, such as  road conditions, weather  variations, and terrain attributes. </a:t>
                      </a:r>
                      <a:endParaRPr lang="en-CA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2542612105"/>
                  </a:ext>
                </a:extLst>
              </a:tr>
              <a:tr h="820381">
                <a:tc>
                  <a:txBody>
                    <a:bodyPr/>
                    <a:lstStyle/>
                    <a:p>
                      <a:pPr algn="just" fontAlgn="t"/>
                      <a:r>
                        <a:rPr lang="en-CA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Integration and  Compatibility </a:t>
                      </a:r>
                      <a:endParaRPr lang="en-CA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CA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Seamlessly integrates with the  Contiki operating system, enabling  researchers to develop and test  IoT applications using Contiki's  APIs and libraries. </a:t>
                      </a:r>
                      <a:endParaRPr lang="en-CA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CA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integration capabilities with  external tools and libraries  specialized in simulating vehicular  environments, traffic patterns, and  geographic information systems </a:t>
                      </a:r>
                      <a:endParaRPr lang="en-CA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36563752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7225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47CD586-D88C-B63A-86AD-21FDBA5F8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/>
          </a:bodyPr>
          <a:lstStyle/>
          <a:p>
            <a:r>
              <a:rPr lang="en-CA" sz="4000" dirty="0"/>
              <a:t>Conclusion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88BBB94-C960-5505-E97D-B21CF2BC8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5" y="2508105"/>
            <a:ext cx="8599561" cy="3100907"/>
          </a:xfrm>
        </p:spPr>
        <p:txBody>
          <a:bodyPr anchor="ctr">
            <a:normAutofit/>
          </a:bodyPr>
          <a:lstStyle/>
          <a:p>
            <a:r>
              <a:rPr lang="en-CA" sz="1400" dirty="0"/>
              <a:t>Choice depends on project requirements</a:t>
            </a:r>
          </a:p>
          <a:p>
            <a:endParaRPr lang="en-CA" sz="1400" dirty="0"/>
          </a:p>
          <a:p>
            <a:r>
              <a:rPr lang="en-CA" sz="1400" dirty="0" err="1"/>
              <a:t>CupCarbon's</a:t>
            </a:r>
            <a:r>
              <a:rPr lang="en-CA" sz="1400" dirty="0"/>
              <a:t> versatility vs. </a:t>
            </a:r>
            <a:r>
              <a:rPr lang="en-CA" sz="1400" dirty="0" err="1"/>
              <a:t>Cooja's</a:t>
            </a:r>
            <a:r>
              <a:rPr lang="en-CA" sz="1400" dirty="0"/>
              <a:t> specialization in Contiki OS</a:t>
            </a:r>
          </a:p>
          <a:p>
            <a:endParaRPr lang="en-CA" sz="1400" dirty="0"/>
          </a:p>
          <a:p>
            <a:r>
              <a:rPr lang="en-CA" sz="1400" dirty="0"/>
              <a:t>Considerations for operating system, geographical context, and specific protocols/technologies</a:t>
            </a:r>
          </a:p>
        </p:txBody>
      </p:sp>
    </p:spTree>
    <p:extLst>
      <p:ext uri="{BB962C8B-B14F-4D97-AF65-F5344CB8AC3E}">
        <p14:creationId xmlns:p14="http://schemas.microsoft.com/office/powerpoint/2010/main" val="4019280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47CD586-D88C-B63A-86AD-21FDBA5F8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/>
          </a:bodyPr>
          <a:lstStyle/>
          <a:p>
            <a:r>
              <a:rPr lang="en-CA" sz="4000" dirty="0"/>
              <a:t>References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88BBB94-C960-5505-E97D-B21CF2BC8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5" y="2508105"/>
            <a:ext cx="8599561" cy="3100907"/>
          </a:xfrm>
        </p:spPr>
        <p:txBody>
          <a:bodyPr anchor="ctr">
            <a:normAutofit fontScale="70000" lnSpcReduction="20000"/>
          </a:bodyPr>
          <a:lstStyle/>
          <a:p>
            <a:pPr>
              <a:lnSpc>
                <a:spcPct val="107000"/>
              </a:lnSpc>
              <a:spcBef>
                <a:spcPts val="1800"/>
              </a:spcBef>
              <a:spcAft>
                <a:spcPts val="400"/>
              </a:spcAft>
            </a:pPr>
            <a:r>
              <a:rPr lang="en-CA" sz="1800" b="1" u="sng" kern="100" dirty="0">
                <a:solidFill>
                  <a:srgbClr val="0F476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CA" sz="1800" b="1" kern="100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CA" sz="1800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2" tooltip="https://youtu.be/ohhde76f7qc?si=m0-j7m8nu6tzk_an"/>
              </a:rPr>
              <a:t>https://youtu.be/OHHDE76F7Qc?si=m0-J7m8nu6tzk_An</a:t>
            </a:r>
            <a:endParaRPr lang="en-CA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CA" sz="1800" u="sng" kern="100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https://github.com/bounceur/CupCarbon</a:t>
            </a:r>
            <a:r>
              <a:rPr lang="en-CA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CA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CA" sz="1800" u="sng" kern="100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  <a:hlinkClick r:id="rId4"/>
              </a:rPr>
              <a:t>http://www.oracle.com/technetwork/java/javase/downloads/jdk8-downloads-2133151.html</a:t>
            </a:r>
            <a:r>
              <a:rPr lang="en-CA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CA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CA" sz="1800" u="sng" kern="100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  <a:hlinkClick r:id="rId5"/>
              </a:rPr>
              <a:t>https://www.eclipse.org/</a:t>
            </a:r>
            <a:endParaRPr lang="en-CA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CA" sz="1800" u="sng" kern="100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  <a:hlinkClick r:id="rId6"/>
              </a:rPr>
              <a:t>https://o7planning.org/fr/10619/installation-de-e-fx-clipse-sur-eclipse</a:t>
            </a:r>
            <a:endParaRPr lang="en-CA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CA" sz="1800" u="sng" kern="100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  <a:hlinkClick r:id="rId7"/>
              </a:rPr>
              <a:t>http://gluonhq.com/products/scene-builder/</a:t>
            </a:r>
            <a:endParaRPr lang="en-CA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CA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CS501 Slides by Dr. Mohammed Ayoub </a:t>
            </a:r>
            <a:r>
              <a:rPr lang="en-CA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Alaoui</a:t>
            </a:r>
            <a:r>
              <a:rPr lang="en-CA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CA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Mhamdi</a:t>
            </a:r>
            <a:r>
              <a:rPr lang="en-CA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CA" sz="1200" dirty="0">
                <a:hlinkClick r:id="rId8" tooltip="https://moodle.ubishops.ca/course/view.php?id=4106"/>
              </a:rPr>
              <a:t>https://moodle.ubishops.ca/course/view.php?id=4106</a:t>
            </a:r>
            <a:endParaRPr lang="en-CA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04876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584</Words>
  <Application>Microsoft Office PowerPoint</Application>
  <PresentationFormat>Grand écran</PresentationFormat>
  <Paragraphs>89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8" baseType="lpstr">
      <vt:lpstr>__tiempos_b6f14e</vt:lpstr>
      <vt:lpstr>Aptos</vt:lpstr>
      <vt:lpstr>Aptos Display</vt:lpstr>
      <vt:lpstr>Arial</vt:lpstr>
      <vt:lpstr>Calibri</vt:lpstr>
      <vt:lpstr>Times New Roman</vt:lpstr>
      <vt:lpstr>Wingdings</vt:lpstr>
      <vt:lpstr>Thème Office</vt:lpstr>
      <vt:lpstr>Final project: Study of an IoT simulator</vt:lpstr>
      <vt:lpstr>Overview</vt:lpstr>
      <vt:lpstr>CupCarbon Key Features</vt:lpstr>
      <vt:lpstr>CupCarbon Supported Languages</vt:lpstr>
      <vt:lpstr>CupCarbon Mote Types</vt:lpstr>
      <vt:lpstr>Cooja Simulator</vt:lpstr>
      <vt:lpstr>Comparison: CupCarbon vs. Cooja</vt:lpstr>
      <vt:lpstr>Comparison: CupCarbon vs. Cooja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project: Study of an IoT simulator</dc:title>
  <dc:creator>Cicéron Ovide Aissoun</dc:creator>
  <cp:lastModifiedBy>Cicéron Ovide Aissoun</cp:lastModifiedBy>
  <cp:revision>8</cp:revision>
  <dcterms:created xsi:type="dcterms:W3CDTF">2024-04-14T04:50:00Z</dcterms:created>
  <dcterms:modified xsi:type="dcterms:W3CDTF">2024-04-14T05:31:13Z</dcterms:modified>
</cp:coreProperties>
</file>